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3969" autoAdjust="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1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6215C"/>
                </a:solidFill>
                <a:latin typeface="Arial"/>
              </a:rPr>
              <a:t>Attrition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32D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02-4183-800A-EBA4345A8096}"/>
              </c:ext>
            </c:extLst>
          </c:dPt>
          <c:dPt>
            <c:idx val="1"/>
            <c:bubble3D val="0"/>
            <c:spPr>
              <a:solidFill>
                <a:srgbClr val="E8E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02-4183-800A-EBA4345A8096}"/>
              </c:ext>
            </c:extLst>
          </c:dPt>
          <c:cat>
            <c:strRef>
              <c:f>Sheet1!$A$2:$A$3</c:f>
              <c:strCache>
                <c:ptCount val="2"/>
                <c:pt idx="0">
                  <c:v>Left (16.1%)</c:v>
                </c:pt>
                <c:pt idx="1">
                  <c:v>Active (83.9%)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237</c:v>
                </c:pt>
                <c:pt idx="1">
                  <c:v>1233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02-4183-800A-EBA4345A80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5E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1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6215C"/>
                </a:solidFill>
                <a:latin typeface="Arial"/>
              </a:rPr>
              <a:t>Avg. Monthly Income: Active vs. Leavers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Income</c:v>
                </c:pt>
              </c:strCache>
            </c:strRef>
          </c:tx>
          <c:spPr>
            <a:solidFill>
              <a:srgbClr val="3C348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CD-4D6E-85CC-35F6B31657C1}"/>
              </c:ext>
            </c:extLst>
          </c:dPt>
          <c:dPt>
            <c:idx val="1"/>
            <c:invertIfNegative val="0"/>
            <c:bubble3D val="0"/>
            <c:spPr>
              <a:solidFill>
                <a:srgbClr val="AF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CD-4D6E-85CC-35F6B31657C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8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Active Employees</c:v>
                </c:pt>
                <c:pt idx="1">
                  <c:v>Employees Who 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6833</c:v>
                </c:pt>
                <c:pt idx="1">
                  <c:v>4787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CD-4D6E-85CC-35F6B31657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1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6215C"/>
                </a:solidFill>
                <a:latin typeface="Arial"/>
              </a:rPr>
              <a:t>Attrition Rate by Job Role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A32D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D7-40A4-8921-4F7395504F85}"/>
              </c:ext>
            </c:extLst>
          </c:dPt>
          <c:dPt>
            <c:idx val="1"/>
            <c:invertIfNegative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D7-40A4-8921-4F7395504F85}"/>
              </c:ext>
            </c:extLst>
          </c:dPt>
          <c:dPt>
            <c:idx val="2"/>
            <c:invertIfNegative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D7-40A4-8921-4F7395504F85}"/>
              </c:ext>
            </c:extLst>
          </c:dPt>
          <c:dPt>
            <c:idx val="3"/>
            <c:invertIfNegative val="0"/>
            <c:bubble3D val="0"/>
            <c:spPr>
              <a:solidFill>
                <a:srgbClr val="AF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ED7-40A4-8921-4F7395504F85}"/>
              </c:ext>
            </c:extLst>
          </c:dPt>
          <c:dPt>
            <c:idx val="4"/>
            <c:invertIfNegative val="0"/>
            <c:bubble3D val="0"/>
            <c:spPr>
              <a:solidFill>
                <a:srgbClr val="AF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ED7-40A4-8921-4F7395504F85}"/>
              </c:ext>
            </c:extLst>
          </c:dPt>
          <c:dPt>
            <c:idx val="5"/>
            <c:invertIfNegative val="0"/>
            <c:bubble3D val="0"/>
            <c:spPr>
              <a:solidFill>
                <a:srgbClr val="AF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ED7-40A4-8921-4F7395504F85}"/>
              </c:ext>
            </c:extLst>
          </c:dPt>
          <c:dPt>
            <c:idx val="6"/>
            <c:invertIfNegative val="0"/>
            <c:bubble3D val="0"/>
            <c:spPr>
              <a:solidFill>
                <a:srgbClr val="AF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ED7-40A4-8921-4F7395504F85}"/>
              </c:ext>
            </c:extLst>
          </c:dPt>
          <c:dPt>
            <c:idx val="7"/>
            <c:invertIfNegative val="0"/>
            <c:bubble3D val="0"/>
            <c:spPr>
              <a:solidFill>
                <a:srgbClr val="AF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ED7-40A4-8921-4F7395504F85}"/>
              </c:ext>
            </c:extLst>
          </c:dPt>
          <c:dPt>
            <c:idx val="8"/>
            <c:invertIfNegative val="0"/>
            <c:bubble3D val="0"/>
            <c:spPr>
              <a:solidFill>
                <a:srgbClr val="AF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ED7-40A4-8921-4F7395504F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8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Sales Rep</c:v>
                </c:pt>
                <c:pt idx="1">
                  <c:v>Lab Technician</c:v>
                </c:pt>
                <c:pt idx="2">
                  <c:v>HR</c:v>
                </c:pt>
                <c:pt idx="3">
                  <c:v>Sales Exec</c:v>
                </c:pt>
                <c:pt idx="4">
                  <c:v>Research Sci.</c:v>
                </c:pt>
                <c:pt idx="5">
                  <c:v>Mfg Director</c:v>
                </c:pt>
                <c:pt idx="6">
                  <c:v>Healthcare Rep</c:v>
                </c:pt>
                <c:pt idx="7">
                  <c:v>Manager</c:v>
                </c:pt>
                <c:pt idx="8">
                  <c:v>Research Dir.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39.799999999999997</c:v>
                </c:pt>
                <c:pt idx="1">
                  <c:v>23.9</c:v>
                </c:pt>
                <c:pt idx="2">
                  <c:v>23.1</c:v>
                </c:pt>
                <c:pt idx="3">
                  <c:v>17.5</c:v>
                </c:pt>
                <c:pt idx="4">
                  <c:v>16.100000000000001</c:v>
                </c:pt>
                <c:pt idx="5">
                  <c:v>6.9</c:v>
                </c:pt>
                <c:pt idx="6">
                  <c:v>6.9</c:v>
                </c:pt>
                <c:pt idx="7">
                  <c:v>4.9000000000000004</c:v>
                </c:pt>
                <c:pt idx="8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ED7-40A4-8921-4F7395504F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1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6215C"/>
                </a:solidFill>
                <a:latin typeface="Arial"/>
              </a:rPr>
              <a:t>Attrition Rate by Overtime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A32D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169-47F5-9708-870F3456F46A}"/>
              </c:ext>
            </c:extLst>
          </c:dPt>
          <c:dPt>
            <c:idx val="1"/>
            <c:invertIfNegative val="0"/>
            <c:bubble3D val="0"/>
            <c:spPr>
              <a:solidFill>
                <a:srgbClr val="E8E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69-47F5-9708-870F3456F4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8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Overtime: Yes</c:v>
                </c:pt>
                <c:pt idx="1">
                  <c:v>Overtime: 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69-47F5-9708-870F3456F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1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6215C"/>
                </a:solidFill>
                <a:latin typeface="Arial"/>
              </a:rPr>
              <a:t>Attrition Rate by Tenure (Trend)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ln w="38100" cap="flat">
              <a:solidFill>
                <a:srgbClr val="3C348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C3489"/>
              </a:solidFill>
              <a:ln w="9525" cap="flat">
                <a:solidFill>
                  <a:srgbClr val="3C348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621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0–1 yr</c:v>
                </c:pt>
                <c:pt idx="1">
                  <c:v>2–3 yrs</c:v>
                </c:pt>
                <c:pt idx="2">
                  <c:v>4–5 yrs</c:v>
                </c:pt>
                <c:pt idx="3">
                  <c:v>6–10 yrs</c:v>
                </c:pt>
                <c:pt idx="4">
                  <c:v>11+ yrs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34.9</c:v>
                </c:pt>
                <c:pt idx="1">
                  <c:v>18.399999999999999</c:v>
                </c:pt>
                <c:pt idx="2">
                  <c:v>13.1</c:v>
                </c:pt>
                <c:pt idx="3">
                  <c:v>12.3</c:v>
                </c:pt>
                <c:pt idx="4">
                  <c:v>8.1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E2B-45C6-8CE9-FFCC7DB09F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14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4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4747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C3489"/>
                </a:solidFill>
              </a:rPr>
              <a:t>TP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HR Attrition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FA9EC"/>
                </a:solidFill>
              </a:rPr>
              <a:t>Insights &amp; Recommendations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3840480" cy="36576"/>
          </a:xfrm>
          <a:prstGeom prst="rect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2103120" cy="2560320"/>
          </a:xfrm>
          <a:prstGeom prst="roundRect">
            <a:avLst>
              <a:gd name="adj" fmla="val 6522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17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16.1%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AECE7"/>
                </a:solidFill>
              </a:rPr>
              <a:t>Overall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AECE7"/>
                </a:solidFill>
              </a:rPr>
              <a:t>Attrition Rate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E0DB37-67C3-FE9F-4A29-424C61794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1" y="-450171"/>
            <a:ext cx="2297430" cy="22974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15C"/>
                </a:solidFill>
              </a:rPr>
              <a:t>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F5E5A"/>
                </a:solidFill>
              </a:rPr>
              <a:t>Key workforce metrics from the IBM HR Analytics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73736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1,470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03450"/>
            <a:ext cx="17373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Employees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371600"/>
            <a:ext cx="173736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237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2003450"/>
            <a:ext cx="17373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Employees Who Left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371600"/>
            <a:ext cx="173736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16.1%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2003450"/>
            <a:ext cx="17373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Attrition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371600"/>
            <a:ext cx="173736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$6,833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29400" y="2003450"/>
            <a:ext cx="17373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Avg. Income — Active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2834640"/>
          <a:ext cx="292608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3474720" y="2834640"/>
          <a:ext cx="53035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15C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F5E5A"/>
                </a:solidFill>
              </a:rPr>
              <a:t>Where is attrition concentrated — and why?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252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39.8%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852160" y="17099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ECE7"/>
                </a:solidFill>
              </a:rPr>
              <a:t>Sales Rep — highest attrition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AECE7"/>
                </a:solidFill>
              </a:rPr>
              <a:t>2.5× the company average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2441448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5054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30.5%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852160" y="296265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ECE7"/>
                </a:solidFill>
              </a:rPr>
              <a:t>Overtime workers at 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AECE7"/>
                </a:solidFill>
              </a:rPr>
              <a:t>vs. 10.4% without overtime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3694176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3758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34.9%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852160" y="42153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ECE7"/>
                </a:solidFill>
              </a:rPr>
              <a:t>Year-1 employees leave fast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AECE7"/>
                </a:solidFill>
              </a:rPr>
              <a:t>Drops to 8.1% after 11 years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15C"/>
                </a:solidFill>
              </a:rPr>
              <a:t>Burnout &amp; Early Exits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F5E5A"/>
                </a:solidFill>
              </a:rPr>
              <a:t>Two compounding risk factors: overtime pressure and onboarding failures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4023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18872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9319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7F6FB"/>
          </a:solidFill>
          <a:ln w="12700">
            <a:solidFill>
              <a:srgbClr val="E8E6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C3489"/>
                </a:solidFill>
              </a:rPr>
              <a:t>2.9×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57200" y="43708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</a:rPr>
              <a:t>Higher risk for overtime workers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91840" y="39319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7F6FB"/>
          </a:solidFill>
          <a:ln w="12700">
            <a:solidFill>
              <a:srgbClr val="E8E6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8328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C3489"/>
                </a:solidFill>
              </a:rPr>
              <a:t>34.9%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383280" y="43708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</a:rPr>
              <a:t>Leave in their first year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39319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7F6FB"/>
          </a:solidFill>
          <a:ln w="12700">
            <a:solidFill>
              <a:srgbClr val="E8E6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0936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C3489"/>
                </a:solidFill>
              </a:rPr>
              <a:t>8.1%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309360" y="43708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</a:rPr>
              <a:t>Attrition after 11+ years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215C"/>
                </a:solidFill>
              </a:rPr>
              <a:t>Actionable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F5E5A"/>
                </a:solidFill>
              </a:rPr>
              <a:t>4 targeted interventions, each tied to a specific finding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984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Overtime Cap &amp; Rotation Policy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AECE7"/>
                </a:solidFill>
              </a:rPr>
              <a:t>Set monthly overtime ceiling per employee. Flag burnout risk early. Target: reduce overtime attrition from 30.5% → ~15%.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984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1316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Sales Rep Compensation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5564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AECE7"/>
                </a:solidFill>
              </a:rPr>
              <a:t>Benchmark salaries vs. market. Close the $2,046/mo gap. Highest ROI intervention — 39.8% attrition in this role is critical.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729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191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Structured 90-Day Onboarding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63016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AECE7"/>
                </a:solidFill>
              </a:rPr>
              <a:t>Assign mentors to all new hires. Run check-in surveys at 30/60/90 days. Address the 34.9% first-year attrition directly.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729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3191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Fast-Track Program for Ages 18–25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3016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AECE7"/>
                </a:solidFill>
              </a:rPr>
              <a:t>Transparent promotion criteria + mentorship from senior staff. Convert highest-risk age group into long-term contributors.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Impact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FA9EC"/>
                </a:solidFill>
              </a:rPr>
              <a:t>Quantifying the cost of inaction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~$6.8M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</a:rPr>
              <a:t>Estimated annual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</a:rPr>
              <a:t>of current attrition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~$2M+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</a:rPr>
              <a:t>Annual savings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</a:rPr>
              <a:t>5-point attrition reduction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73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</a:rPr>
              <a:t>Additional employees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</a:rPr>
              <a:t>retained per year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314</Words>
  <Application>Microsoft Office PowerPoint</Application>
  <PresentationFormat>On-screen Show (16:9)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 — TP Interview Task</dc:title>
  <dc:subject>PptxGenJS Presentation</dc:subject>
  <dc:creator>PptxGenJS</dc:creator>
  <cp:lastModifiedBy>ahmed elsayed</cp:lastModifiedBy>
  <cp:revision>5</cp:revision>
  <dcterms:created xsi:type="dcterms:W3CDTF">2026-06-18T21:56:43Z</dcterms:created>
  <dcterms:modified xsi:type="dcterms:W3CDTF">2026-06-20T11:05:13Z</dcterms:modified>
</cp:coreProperties>
</file>